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F60EE7-538A-44C8-A69D-1CC9C79C7D1C}" v="1" dt="2026-10-10T01:26:06.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NIKA BHIMAVARAPU" userId="51b6d738-22ca-4d80-9fcf-430671bfe66f" providerId="ADAL" clId="{22C81D43-EC5D-4985-BF21-99037E1AB383}"/>
    <pc:docChg chg="custSel modSld">
      <pc:chgData name="PARNIKA BHIMAVARAPU" userId="51b6d738-22ca-4d80-9fcf-430671bfe66f" providerId="ADAL" clId="{22C81D43-EC5D-4985-BF21-99037E1AB383}" dt="2026-10-10T01:27:12.144" v="54" actId="14100"/>
      <pc:docMkLst>
        <pc:docMk/>
      </pc:docMkLst>
      <pc:sldChg chg="modSp mod">
        <pc:chgData name="PARNIKA BHIMAVARAPU" userId="51b6d738-22ca-4d80-9fcf-430671bfe66f" providerId="ADAL" clId="{22C81D43-EC5D-4985-BF21-99037E1AB383}" dt="2026-10-10T01:26:43.356" v="49" actId="14100"/>
        <pc:sldMkLst>
          <pc:docMk/>
          <pc:sldMk cId="0" sldId="256"/>
        </pc:sldMkLst>
        <pc:spChg chg="mod">
          <ac:chgData name="PARNIKA BHIMAVARAPU" userId="51b6d738-22ca-4d80-9fcf-430671bfe66f" providerId="ADAL" clId="{22C81D43-EC5D-4985-BF21-99037E1AB383}" dt="2026-10-10T01:25:29.242" v="8" actId="255"/>
          <ac:spMkLst>
            <pc:docMk/>
            <pc:sldMk cId="0" sldId="256"/>
            <ac:spMk id="3" creationId="{00000000-0000-0000-0000-000000000000}"/>
          </ac:spMkLst>
        </pc:spChg>
        <pc:spChg chg="mod">
          <ac:chgData name="PARNIKA BHIMAVARAPU" userId="51b6d738-22ca-4d80-9fcf-430671bfe66f" providerId="ADAL" clId="{22C81D43-EC5D-4985-BF21-99037E1AB383}" dt="2026-10-10T01:26:43.356" v="49" actId="14100"/>
          <ac:spMkLst>
            <pc:docMk/>
            <pc:sldMk cId="0" sldId="256"/>
            <ac:spMk id="6" creationId="{00000000-0000-0000-0000-000000000000}"/>
          </ac:spMkLst>
        </pc:spChg>
      </pc:sldChg>
      <pc:sldChg chg="modSp mod">
        <pc:chgData name="PARNIKA BHIMAVARAPU" userId="51b6d738-22ca-4d80-9fcf-430671bfe66f" providerId="ADAL" clId="{22C81D43-EC5D-4985-BF21-99037E1AB383}" dt="2026-10-10T01:26:57.997" v="51" actId="1076"/>
        <pc:sldMkLst>
          <pc:docMk/>
          <pc:sldMk cId="0" sldId="257"/>
        </pc:sldMkLst>
        <pc:spChg chg="mod">
          <ac:chgData name="PARNIKA BHIMAVARAPU" userId="51b6d738-22ca-4d80-9fcf-430671bfe66f" providerId="ADAL" clId="{22C81D43-EC5D-4985-BF21-99037E1AB383}" dt="2026-10-10T01:26:53.506" v="50" actId="14100"/>
          <ac:spMkLst>
            <pc:docMk/>
            <pc:sldMk cId="0" sldId="257"/>
            <ac:spMk id="4" creationId="{00000000-0000-0000-0000-000000000000}"/>
          </ac:spMkLst>
        </pc:spChg>
        <pc:spChg chg="mod">
          <ac:chgData name="PARNIKA BHIMAVARAPU" userId="51b6d738-22ca-4d80-9fcf-430671bfe66f" providerId="ADAL" clId="{22C81D43-EC5D-4985-BF21-99037E1AB383}" dt="2026-10-10T01:26:57.997" v="51" actId="1076"/>
          <ac:spMkLst>
            <pc:docMk/>
            <pc:sldMk cId="0" sldId="257"/>
            <ac:spMk id="6" creationId="{00000000-0000-0000-0000-000000000000}"/>
          </ac:spMkLst>
        </pc:spChg>
      </pc:sldChg>
      <pc:sldChg chg="modSp mod">
        <pc:chgData name="PARNIKA BHIMAVARAPU" userId="51b6d738-22ca-4d80-9fcf-430671bfe66f" providerId="ADAL" clId="{22C81D43-EC5D-4985-BF21-99037E1AB383}" dt="2026-10-10T01:27:03.978" v="52" actId="1076"/>
        <pc:sldMkLst>
          <pc:docMk/>
          <pc:sldMk cId="0" sldId="258"/>
        </pc:sldMkLst>
        <pc:spChg chg="mod">
          <ac:chgData name="PARNIKA BHIMAVARAPU" userId="51b6d738-22ca-4d80-9fcf-430671bfe66f" providerId="ADAL" clId="{22C81D43-EC5D-4985-BF21-99037E1AB383}" dt="2026-10-10T01:27:03.978" v="52" actId="1076"/>
          <ac:spMkLst>
            <pc:docMk/>
            <pc:sldMk cId="0" sldId="258"/>
            <ac:spMk id="8" creationId="{00000000-0000-0000-0000-000000000000}"/>
          </ac:spMkLst>
        </pc:spChg>
      </pc:sldChg>
      <pc:sldChg chg="modSp mod">
        <pc:chgData name="PARNIKA BHIMAVARAPU" userId="51b6d738-22ca-4d80-9fcf-430671bfe66f" providerId="ADAL" clId="{22C81D43-EC5D-4985-BF21-99037E1AB383}" dt="2026-10-10T01:27:12.144" v="54" actId="14100"/>
        <pc:sldMkLst>
          <pc:docMk/>
          <pc:sldMk cId="0" sldId="259"/>
        </pc:sldMkLst>
        <pc:picChg chg="mod">
          <ac:chgData name="PARNIKA BHIMAVARAPU" userId="51b6d738-22ca-4d80-9fcf-430671bfe66f" providerId="ADAL" clId="{22C81D43-EC5D-4985-BF21-99037E1AB383}" dt="2026-10-10T01:27:12.144" v="54" actId="14100"/>
          <ac:picMkLst>
            <pc:docMk/>
            <pc:sldMk cId="0" sldId="259"/>
            <ac:picMk id="4" creationId="{00000000-0000-0000-0000-000000000000}"/>
          </ac:picMkLst>
        </pc:picChg>
      </pc:sldChg>
      <pc:sldChg chg="delSp modSp mod">
        <pc:chgData name="PARNIKA BHIMAVARAPU" userId="51b6d738-22ca-4d80-9fcf-430671bfe66f" providerId="ADAL" clId="{22C81D43-EC5D-4985-BF21-99037E1AB383}" dt="2026-10-10T01:24:59.281" v="5" actId="478"/>
        <pc:sldMkLst>
          <pc:docMk/>
          <pc:sldMk cId="0" sldId="260"/>
        </pc:sldMkLst>
        <pc:spChg chg="del mod">
          <ac:chgData name="PARNIKA BHIMAVARAPU" userId="51b6d738-22ca-4d80-9fcf-430671bfe66f" providerId="ADAL" clId="{22C81D43-EC5D-4985-BF21-99037E1AB383}" dt="2026-10-10T01:24:55.945" v="3" actId="478"/>
          <ac:spMkLst>
            <pc:docMk/>
            <pc:sldMk cId="0" sldId="260"/>
            <ac:spMk id="5" creationId="{00000000-0000-0000-0000-000000000000}"/>
          </ac:spMkLst>
        </pc:spChg>
        <pc:spChg chg="del">
          <ac:chgData name="PARNIKA BHIMAVARAPU" userId="51b6d738-22ca-4d80-9fcf-430671bfe66f" providerId="ADAL" clId="{22C81D43-EC5D-4985-BF21-99037E1AB383}" dt="2026-10-10T01:24:57.856" v="4" actId="478"/>
          <ac:spMkLst>
            <pc:docMk/>
            <pc:sldMk cId="0" sldId="260"/>
            <ac:spMk id="6" creationId="{00000000-0000-0000-0000-000000000000}"/>
          </ac:spMkLst>
        </pc:spChg>
        <pc:spChg chg="del">
          <ac:chgData name="PARNIKA BHIMAVARAPU" userId="51b6d738-22ca-4d80-9fcf-430671bfe66f" providerId="ADAL" clId="{22C81D43-EC5D-4985-BF21-99037E1AB383}" dt="2026-10-10T01:24:59.281" v="5" actId="478"/>
          <ac:spMkLst>
            <pc:docMk/>
            <pc:sldMk cId="0" sldId="260"/>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572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'Good morning judges. We don't just detect the crowd that exists now — we predict the crowd that is coming next. We are team [Names], and this is CrowdShield.'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'The problem today is NOT a lack of cameras. It is that existing systems are 100% reactive. Standard CCTV simply documents tragedies after people fall. We need automated pre-emption.'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'Here is our 3-step paradigm: First, anonymous computer vision counts people without storing faces. Second, a 5-qubit quantum reservoir predicts what is coming next. Third, an automated risk engine gives venue commanders minutes of advance notice to divert gates.'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'Our visual input layer is built on YOLOv11. It isolates human bounding boxes without ever analyzing facial features. It can run on existing municipal CCTV cameras today without expensive retrofitting.'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'This is our main technical innovation. In Qiskit, we encode our 5 temporal readings as rotational angles across 5 qubits and entangle them. This maps simple numbers into a rich 32-dimensional quantum Hilbert space, allowing simple Ridge regression to predict sudden non-linear surges.'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'Notice the clean flow: YOLO extracts the count, FastAPI structures the 5-point window, Qiskit expands it into quantum states, and Ridge regression predicts the next number. The entire loop executes in under 50ms.'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'A prediction is only valuable if it triggers action. Our 4-tier risk engine automatically guides commanders: from normal monitoring at Safe, to pre-staging at Warning, to throttled turnstiles at High, and emergency bypass at Critical.'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'Judges, our metrics are honest and validated: an MAE of 1.61 people, sub-45ms latency, and a continuous 3-second cycle. Where deep networks overfit due to lack of crowd crush data, our quantum reservoir model excels.'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'The Command Center is designed for actual security staff. It gives operators one-click camera switching, an active 3-second live sampling loop, and multi-zone monitoring with zero lag.'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 PITCH:</a:t>
            </a:r>
          </a:p>
          <a:p>
            <a:r>
              <a:t>'In conclusion judges: CrowdShield bridges cutting-edge quantum computing with life-saving public safety. We are ready for your questions and to show you our live running demo.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747252"/>
            <a:ext cx="10698480" cy="852948"/>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rPr sz="2800" dirty="0"/>
              <a:t>AI + QUANTUM SAFETY PLATFORM</a:t>
            </a:r>
          </a:p>
        </p:txBody>
      </p:sp>
      <p:sp>
        <p:nvSpPr>
          <p:cNvPr id="4" name="TextBox 3"/>
          <p:cNvSpPr txBox="1"/>
          <p:nvPr/>
        </p:nvSpPr>
        <p:spPr>
          <a:xfrm>
            <a:off x="731520" y="1737360"/>
            <a:ext cx="10698480" cy="1645920"/>
          </a:xfrm>
          <a:prstGeom prst="rect">
            <a:avLst/>
          </a:prstGeom>
          <a:noFill/>
        </p:spPr>
        <p:txBody>
          <a:bodyPr wrap="square">
            <a:spAutoFit/>
          </a:bodyPr>
          <a:lstStyle/>
          <a:p>
            <a:pPr>
              <a:defRPr sz="6400" b="1">
                <a:solidFill>
                  <a:srgbClr val="FFFFFF"/>
                </a:solidFill>
              </a:defRPr>
            </a:pPr>
            <a:r>
              <a:rPr dirty="0"/>
              <a:t>CROWDSHIELD</a:t>
            </a:r>
          </a:p>
        </p:txBody>
      </p:sp>
      <p:sp>
        <p:nvSpPr>
          <p:cNvPr id="5" name="TextBox 4"/>
          <p:cNvSpPr txBox="1"/>
          <p:nvPr/>
        </p:nvSpPr>
        <p:spPr>
          <a:xfrm>
            <a:off x="731520" y="3383280"/>
            <a:ext cx="10698480" cy="731520"/>
          </a:xfrm>
          <a:prstGeom prst="rect">
            <a:avLst/>
          </a:prstGeom>
          <a:noFill/>
        </p:spPr>
        <p:txBody>
          <a:bodyPr wrap="square">
            <a:spAutoFit/>
          </a:bodyPr>
          <a:lstStyle/>
          <a:p>
            <a:pPr>
              <a:defRPr sz="2400" b="1">
                <a:solidFill>
                  <a:srgbClr val="0EA5E9"/>
                </a:solidFill>
              </a:defRPr>
            </a:pPr>
            <a:r>
              <a:t>Predictive Crowd Density &amp; Stampede Prevention</a:t>
            </a:r>
          </a:p>
          <a:p>
            <a:pPr>
              <a:spcBef>
                <a:spcPts val="600"/>
              </a:spcBef>
              <a:defRPr sz="1600">
                <a:solidFill>
                  <a:srgbClr val="94A3B8"/>
                </a:solidFill>
              </a:defRPr>
            </a:pPr>
            <a:r>
              <a:t>Powered by YOLOv11 Computer Vision &amp; 5-Qubit Quantum Reservoir Computing (QRC)</a:t>
            </a:r>
          </a:p>
        </p:txBody>
      </p:sp>
      <p:sp>
        <p:nvSpPr>
          <p:cNvPr id="6" name="Rounded Rectangle 5"/>
          <p:cNvSpPr/>
          <p:nvPr/>
        </p:nvSpPr>
        <p:spPr>
          <a:xfrm>
            <a:off x="731520" y="4846320"/>
            <a:ext cx="10575577"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100" b="1">
                <a:solidFill>
                  <a:srgbClr val="0EA5E9"/>
                </a:solidFill>
              </a:defRPr>
            </a:pPr>
            <a:r>
              <a:rPr dirty="0"/>
              <a:t>PRESENTED BY:</a:t>
            </a:r>
          </a:p>
          <a:p>
            <a:pPr>
              <a:spcBef>
                <a:spcPts val="400"/>
              </a:spcBef>
              <a:defRPr sz="1800" b="1">
                <a:solidFill>
                  <a:srgbClr val="FFFFFF"/>
                </a:solidFill>
              </a:defRPr>
            </a:pPr>
            <a:r>
              <a:rPr dirty="0"/>
              <a:t>[</a:t>
            </a:r>
            <a:r>
              <a:rPr lang="en-US" dirty="0"/>
              <a:t>M.RISHITHA, CH.LIHARIKA,BH.PARNIKA</a:t>
            </a:r>
            <a:r>
              <a:rPr dirty="0"/>
              <a:t>]</a:t>
            </a:r>
          </a:p>
          <a:p>
            <a:pPr>
              <a:spcBef>
                <a:spcPts val="200"/>
              </a:spcBef>
              <a:defRPr sz="1300">
                <a:solidFill>
                  <a:srgbClr val="94A3B8"/>
                </a:solidFill>
              </a:defRPr>
            </a:pPr>
            <a:r>
              <a:rPr dirty="0"/>
              <a:t>[</a:t>
            </a:r>
            <a:r>
              <a:rPr lang="en-IN" sz="1300" dirty="0">
                <a:solidFill>
                  <a:srgbClr val="94A3B8"/>
                </a:solidFill>
              </a:rPr>
              <a:t>Lakireddy Bali Reddy College of Engineering</a:t>
            </a:r>
            <a:r>
              <a:rPr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THE URGENT PROBLEM</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Why Today's CCTV Surveillance Fails</a:t>
            </a:r>
          </a:p>
        </p:txBody>
      </p:sp>
      <p:sp>
        <p:nvSpPr>
          <p:cNvPr id="4" name="Rounded Rectangle 3"/>
          <p:cNvSpPr/>
          <p:nvPr/>
        </p:nvSpPr>
        <p:spPr>
          <a:xfrm>
            <a:off x="235974" y="1278194"/>
            <a:ext cx="5981946" cy="5031166"/>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EF4444"/>
                </a:solidFill>
              </a:defRPr>
            </a:pPr>
            <a:r>
              <a:t>100% REACTIVE</a:t>
            </a:r>
          </a:p>
          <a:p>
            <a:pPr>
              <a:spcAft>
                <a:spcPts val="1600"/>
              </a:spcAft>
              <a:defRPr sz="1900" b="1">
                <a:solidFill>
                  <a:srgbClr val="0F172A"/>
                </a:solidFill>
              </a:defRPr>
            </a:pPr>
            <a:r>
              <a:t>Current cameras only record disasters after people fall.</a:t>
            </a:r>
          </a:p>
          <a:p>
            <a:pPr>
              <a:spcAft>
                <a:spcPts val="1200"/>
              </a:spcAft>
            </a:pPr>
            <a:r>
              <a:rPr sz="1400" b="1">
                <a:solidFill>
                  <a:srgbClr val="EF4444"/>
                </a:solidFill>
              </a:rPr>
              <a:t>• Fatal Delay: </a:t>
            </a:r>
            <a:r>
              <a:rPr sz="1400">
                <a:solidFill>
                  <a:srgbClr val="0F172A"/>
                </a:solidFill>
              </a:rPr>
              <a:t>By the time operators notice a density crush, stampede shockwaves have already started.</a:t>
            </a:r>
          </a:p>
          <a:p>
            <a:pPr>
              <a:spcAft>
                <a:spcPts val="1200"/>
              </a:spcAft>
            </a:pPr>
            <a:r>
              <a:rPr sz="1400" b="1">
                <a:solidFill>
                  <a:srgbClr val="EF4444"/>
                </a:solidFill>
              </a:rPr>
              <a:t>• 150+ Lives Lost: </a:t>
            </a:r>
            <a:r>
              <a:rPr sz="1400">
                <a:solidFill>
                  <a:srgbClr val="0F172A"/>
                </a:solidFill>
              </a:rPr>
              <a:t>Recent tragedies (Seoul Halloween, Astroworld) prove humans cannot watch 50+ screens in real time.</a:t>
            </a:r>
          </a:p>
          <a:p>
            <a:pPr>
              <a:spcAft>
                <a:spcPts val="1200"/>
              </a:spcAft>
            </a:pPr>
            <a:r>
              <a:rPr sz="1400" b="1">
                <a:solidFill>
                  <a:srgbClr val="EF4444"/>
                </a:solidFill>
              </a:rPr>
              <a:t>• Non-Linear Surges: </a:t>
            </a:r>
            <a:r>
              <a:rPr sz="1400">
                <a:solidFill>
                  <a:srgbClr val="0F172A"/>
                </a:solidFill>
              </a:rPr>
              <a:t>Crowds transition from safe flow to deadly turbulence in under 60 seconds.</a:t>
            </a:r>
          </a:p>
        </p:txBody>
      </p:sp>
      <p:pic>
        <p:nvPicPr>
          <p:cNvPr id="5" name="Picture 4" descr="crowd_cctv_raw.jpg"/>
          <p:cNvPicPr>
            <a:picLocks noChangeAspect="1"/>
          </p:cNvPicPr>
          <p:nvPr/>
        </p:nvPicPr>
        <p:blipFill>
          <a:blip r:embed="rId3"/>
          <a:stretch>
            <a:fillRect/>
          </a:stretch>
        </p:blipFill>
        <p:spPr>
          <a:xfrm>
            <a:off x="6492240" y="1554480"/>
            <a:ext cx="4937760" cy="2783313"/>
          </a:xfrm>
          <a:prstGeom prst="rect">
            <a:avLst/>
          </a:prstGeom>
        </p:spPr>
      </p:pic>
      <p:sp>
        <p:nvSpPr>
          <p:cNvPr id="6" name="Rounded Rectangle 5"/>
          <p:cNvSpPr/>
          <p:nvPr/>
        </p:nvSpPr>
        <p:spPr>
          <a:xfrm>
            <a:off x="6675120" y="5029200"/>
            <a:ext cx="4572000" cy="731520"/>
          </a:xfrm>
          <a:prstGeom prst="roundRect">
            <a:avLst/>
          </a:prstGeom>
          <a:solidFill>
            <a:srgbClr val="0F172A"/>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Real CCTV: Visual bottlenecks form in seconds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THE CROWDSHIELD SOLUTION</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Predictive Public Safety in 3 Steps</a:t>
            </a:r>
          </a:p>
        </p:txBody>
      </p:sp>
      <p:sp>
        <p:nvSpPr>
          <p:cNvPr id="4" name="Rounded Rectangle 3"/>
          <p:cNvSpPr/>
          <p:nvPr/>
        </p:nvSpPr>
        <p:spPr>
          <a:xfrm>
            <a:off x="731520" y="1554480"/>
            <a:ext cx="5486400" cy="137160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EA5E9"/>
                </a:solidFill>
              </a:defRPr>
            </a:pPr>
            <a:r>
              <a:t>01. ANONYMOUS DETECTION</a:t>
            </a:r>
          </a:p>
          <a:p>
            <a:pPr>
              <a:spcBef>
                <a:spcPts val="400"/>
              </a:spcBef>
              <a:defRPr sz="1400">
                <a:solidFill>
                  <a:srgbClr val="0F172A"/>
                </a:solidFill>
              </a:defRPr>
            </a:pPr>
            <a:r>
              <a:t>YOLOv11 counts people via bounding boxes. Zero face recognition. 100% privacy-safe.</a:t>
            </a:r>
          </a:p>
        </p:txBody>
      </p:sp>
      <p:sp>
        <p:nvSpPr>
          <p:cNvPr id="5" name="Rounded Rectangle 4"/>
          <p:cNvSpPr/>
          <p:nvPr/>
        </p:nvSpPr>
        <p:spPr>
          <a:xfrm>
            <a:off x="731520" y="3108960"/>
            <a:ext cx="5486400" cy="137160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2563EB"/>
                </a:solidFill>
              </a:defRPr>
            </a:pPr>
            <a:r>
              <a:t>02. QUANTUM PREDICTION</a:t>
            </a:r>
          </a:p>
          <a:p>
            <a:pPr>
              <a:spcBef>
                <a:spcPts val="400"/>
              </a:spcBef>
              <a:defRPr sz="1400">
                <a:solidFill>
                  <a:srgbClr val="0F172A"/>
                </a:solidFill>
              </a:defRPr>
            </a:pPr>
            <a:r>
              <a:t>5-Qubit Quantum Reservoir (QRC) predicts crowd density for the next time window.</a:t>
            </a:r>
          </a:p>
        </p:txBody>
      </p:sp>
      <p:sp>
        <p:nvSpPr>
          <p:cNvPr id="6" name="Rounded Rectangle 5"/>
          <p:cNvSpPr/>
          <p:nvPr/>
        </p:nvSpPr>
        <p:spPr>
          <a:xfrm>
            <a:off x="731520" y="4663440"/>
            <a:ext cx="5486400" cy="137160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0B981"/>
                </a:solidFill>
              </a:defRPr>
            </a:pPr>
            <a:r>
              <a:t>03. AUTOMATED ACTION</a:t>
            </a:r>
          </a:p>
          <a:p>
            <a:pPr>
              <a:spcBef>
                <a:spcPts val="400"/>
              </a:spcBef>
              <a:defRPr sz="1400">
                <a:solidFill>
                  <a:srgbClr val="0F172A"/>
                </a:solidFill>
              </a:defRPr>
            </a:pPr>
            <a:r>
              <a:t>Risk Engine gives commanders 60 to 180 seconds of vital lead time to divert crowds.</a:t>
            </a:r>
          </a:p>
        </p:txBody>
      </p:sp>
      <p:pic>
        <p:nvPicPr>
          <p:cNvPr id="7" name="Picture 6" descr="crowd_dense_yolo.jpg"/>
          <p:cNvPicPr>
            <a:picLocks noChangeAspect="1"/>
          </p:cNvPicPr>
          <p:nvPr/>
        </p:nvPicPr>
        <p:blipFill>
          <a:blip r:embed="rId3"/>
          <a:stretch>
            <a:fillRect/>
          </a:stretch>
        </p:blipFill>
        <p:spPr>
          <a:xfrm>
            <a:off x="6492240" y="1554480"/>
            <a:ext cx="4937760" cy="2783313"/>
          </a:xfrm>
          <a:prstGeom prst="rect">
            <a:avLst/>
          </a:prstGeom>
        </p:spPr>
      </p:pic>
      <p:sp>
        <p:nvSpPr>
          <p:cNvPr id="8" name="Rounded Rectangle 7"/>
          <p:cNvSpPr/>
          <p:nvPr/>
        </p:nvSpPr>
        <p:spPr>
          <a:xfrm>
            <a:off x="6675120" y="4937760"/>
            <a:ext cx="4572000" cy="731520"/>
          </a:xfrm>
          <a:prstGeom prst="roundRect">
            <a:avLst/>
          </a:prstGeom>
          <a:solidFill>
            <a:srgbClr val="0F172A"/>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EA5E9"/>
                </a:solidFill>
              </a:defRPr>
            </a:pPr>
            <a:r>
              <a:t>✓ Live AI Perception: Anonymous Bounding Box Tracking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COMPUTER VISION LAYER</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YOLOv11: High-Speed Anonymous Counting</a:t>
            </a:r>
          </a:p>
        </p:txBody>
      </p:sp>
      <p:pic>
        <p:nvPicPr>
          <p:cNvPr id="4" name="Picture 3" descr="crowd_yolo_detected.jpg"/>
          <p:cNvPicPr>
            <a:picLocks noChangeAspect="1"/>
          </p:cNvPicPr>
          <p:nvPr/>
        </p:nvPicPr>
        <p:blipFill>
          <a:blip r:embed="rId3"/>
          <a:stretch>
            <a:fillRect/>
          </a:stretch>
        </p:blipFill>
        <p:spPr>
          <a:xfrm>
            <a:off x="731520" y="1554479"/>
            <a:ext cx="5486400" cy="3754939"/>
          </a:xfrm>
          <a:prstGeom prst="rect">
            <a:avLst/>
          </a:prstGeom>
        </p:spPr>
      </p:pic>
      <p:sp>
        <p:nvSpPr>
          <p:cNvPr id="5" name="Rounded Rectangle 4"/>
          <p:cNvSpPr/>
          <p:nvPr/>
        </p:nvSpPr>
        <p:spPr>
          <a:xfrm>
            <a:off x="6492240" y="1554480"/>
            <a:ext cx="493776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t>PRIVACY-FIRST VISION</a:t>
            </a:r>
          </a:p>
          <a:p>
            <a:pPr>
              <a:spcAft>
                <a:spcPts val="1800"/>
              </a:spcAft>
              <a:defRPr sz="2000" b="1">
                <a:solidFill>
                  <a:srgbClr val="0F172A"/>
                </a:solidFill>
              </a:defRPr>
            </a:pPr>
            <a:r>
              <a:t>Real-Time Detection Without Biometric Storage</a:t>
            </a:r>
          </a:p>
          <a:p>
            <a:pPr>
              <a:spcAft>
                <a:spcPts val="1200"/>
              </a:spcAft>
            </a:pPr>
            <a:r>
              <a:rPr sz="1400" b="1">
                <a:solidFill>
                  <a:srgbClr val="2563EB"/>
                </a:solidFill>
              </a:rPr>
              <a:t>• Pedestrian Filtering: </a:t>
            </a:r>
            <a:r>
              <a:rPr sz="1400">
                <a:solidFill>
                  <a:srgbClr val="0F172A"/>
                </a:solidFill>
              </a:rPr>
              <a:t>Filters strictly on Person (class 0). Bypasses bags, umbrellas, and vehicles.</a:t>
            </a:r>
          </a:p>
          <a:p>
            <a:pPr>
              <a:spcAft>
                <a:spcPts val="1200"/>
              </a:spcAft>
            </a:pPr>
            <a:r>
              <a:rPr sz="1400" b="1">
                <a:solidFill>
                  <a:srgbClr val="2563EB"/>
                </a:solidFill>
              </a:rPr>
              <a:t>• Zero Facial Recognition: </a:t>
            </a:r>
            <a:r>
              <a:rPr sz="1400">
                <a:solidFill>
                  <a:srgbClr val="0F172A"/>
                </a:solidFill>
              </a:rPr>
              <a:t>Operates purely on bounding boxes. Fully compliant with GDPR and public privacy laws.</a:t>
            </a:r>
          </a:p>
          <a:p>
            <a:pPr>
              <a:spcAft>
                <a:spcPts val="1200"/>
              </a:spcAft>
            </a:pPr>
            <a:r>
              <a:rPr sz="1400" b="1">
                <a:solidFill>
                  <a:srgbClr val="2563EB"/>
                </a:solidFill>
              </a:rPr>
              <a:t>• 1-Second Sampling: </a:t>
            </a:r>
            <a:r>
              <a:rPr sz="1400">
                <a:solidFill>
                  <a:srgbClr val="0F172A"/>
                </a:solidFill>
              </a:rPr>
              <a:t>Processes 30 frames/sec into smooth temporal sequences without CPU lag.</a:t>
            </a:r>
          </a:p>
          <a:p>
            <a:pPr>
              <a:spcAft>
                <a:spcPts val="1200"/>
              </a:spcAft>
            </a:pPr>
            <a:r>
              <a:rPr sz="1400" b="1">
                <a:solidFill>
                  <a:srgbClr val="2563EB"/>
                </a:solidFill>
              </a:rPr>
              <a:t>• Instant Plug-and-Play: </a:t>
            </a:r>
            <a:r>
              <a:rPr sz="1400">
                <a:solidFill>
                  <a:srgbClr val="0F172A"/>
                </a:solidFill>
              </a:rPr>
              <a:t>Works seamlessly over standard RTSP, CCTV feeds, or video uploads.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THE QUANTUM CORE INNOVATION</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Quantum Reservoir Computing (QRC)</a:t>
            </a:r>
          </a:p>
        </p:txBody>
      </p:sp>
      <p:pic>
        <p:nvPicPr>
          <p:cNvPr id="4" name="Picture 3" descr="quantum_circuit.png"/>
          <p:cNvPicPr>
            <a:picLocks noChangeAspect="1"/>
          </p:cNvPicPr>
          <p:nvPr/>
        </p:nvPicPr>
        <p:blipFill>
          <a:blip r:embed="rId3"/>
          <a:stretch>
            <a:fillRect/>
          </a:stretch>
        </p:blipFill>
        <p:spPr>
          <a:xfrm>
            <a:off x="731520" y="1463040"/>
            <a:ext cx="10698480" cy="52952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SYSTEM ARCHITECTURE</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How CrowdShield Works: Data Flow Pipeline</a:t>
            </a:r>
          </a:p>
        </p:txBody>
      </p:sp>
      <p:sp>
        <p:nvSpPr>
          <p:cNvPr id="4" name="Rounded Rectangle 3"/>
          <p:cNvSpPr/>
          <p:nvPr/>
        </p:nvSpPr>
        <p:spPr>
          <a:xfrm>
            <a:off x="731520" y="1645920"/>
            <a:ext cx="3474720" cy="2011680"/>
          </a:xfrm>
          <a:prstGeom prst="roundRect">
            <a:avLst/>
          </a:prstGeom>
          <a:solidFill>
            <a:srgbClr val="F8FAFC"/>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defRPr>
            </a:pPr>
            <a:r>
              <a:t>1. CCTV VIDEO</a:t>
            </a:r>
          </a:p>
          <a:p>
            <a:pPr>
              <a:spcBef>
                <a:spcPts val="800"/>
              </a:spcBef>
              <a:defRPr sz="1300">
                <a:solidFill>
                  <a:srgbClr val="0F172A"/>
                </a:solidFill>
              </a:defRPr>
            </a:pPr>
            <a:r>
              <a:t>Surveillance camera or uploaded stream (vdo.mp4 / f2.mp4)</a:t>
            </a:r>
          </a:p>
        </p:txBody>
      </p:sp>
      <p:sp>
        <p:nvSpPr>
          <p:cNvPr id="5" name="Rounded Rectangle 4"/>
          <p:cNvSpPr/>
          <p:nvPr/>
        </p:nvSpPr>
        <p:spPr>
          <a:xfrm>
            <a:off x="4343400" y="1645920"/>
            <a:ext cx="3474720" cy="201168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563EB"/>
                </a:solidFill>
              </a:defRPr>
            </a:pPr>
            <a:r>
              <a:t>2. YOLOv11 VISION</a:t>
            </a:r>
          </a:p>
          <a:p>
            <a:pPr>
              <a:spcBef>
                <a:spcPts val="800"/>
              </a:spcBef>
              <a:defRPr sz="1300">
                <a:solidFill>
                  <a:srgbClr val="0F172A"/>
                </a:solidFill>
              </a:defRPr>
            </a:pPr>
            <a:r>
              <a:t>Anonymous pedestrian count extracted every 30 frames</a:t>
            </a:r>
          </a:p>
        </p:txBody>
      </p:sp>
      <p:sp>
        <p:nvSpPr>
          <p:cNvPr id="6" name="Rounded Rectangle 5"/>
          <p:cNvSpPr/>
          <p:nvPr/>
        </p:nvSpPr>
        <p:spPr>
          <a:xfrm>
            <a:off x="7955280" y="1645920"/>
            <a:ext cx="3474720" cy="2011680"/>
          </a:xfrm>
          <a:prstGeom prst="roundRect">
            <a:avLst/>
          </a:prstGeom>
          <a:solidFill>
            <a:srgbClr val="F8FAFC"/>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defRPr>
            </a:pPr>
            <a:r>
              <a:t>3. 5-STEP WINDOW</a:t>
            </a:r>
          </a:p>
          <a:p>
            <a:pPr>
              <a:spcBef>
                <a:spcPts val="800"/>
              </a:spcBef>
              <a:defRPr sz="1300">
                <a:solidFill>
                  <a:srgbClr val="0F172A"/>
                </a:solidFill>
              </a:defRPr>
            </a:pPr>
            <a:r>
              <a:t>Rolling temporal buffer: [x(t-4), x(t-3), x(t-2), x(t-1), x(t)]</a:t>
            </a:r>
          </a:p>
        </p:txBody>
      </p:sp>
      <p:sp>
        <p:nvSpPr>
          <p:cNvPr id="7" name="Rounded Rectangle 6"/>
          <p:cNvSpPr/>
          <p:nvPr/>
        </p:nvSpPr>
        <p:spPr>
          <a:xfrm>
            <a:off x="731520" y="3931920"/>
            <a:ext cx="3474720" cy="201168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EA5E9"/>
                </a:solidFill>
              </a:defRPr>
            </a:pPr>
            <a:r>
              <a:t>4. QISKIT QRC</a:t>
            </a:r>
          </a:p>
          <a:p>
            <a:pPr>
              <a:spcBef>
                <a:spcPts val="800"/>
              </a:spcBef>
              <a:defRPr sz="1300">
                <a:solidFill>
                  <a:srgbClr val="0F172A"/>
                </a:solidFill>
              </a:defRPr>
            </a:pPr>
            <a:r>
              <a:t>5-Qubit quantum circuit simulation &amp; Pauli-Z expectation values</a:t>
            </a:r>
          </a:p>
        </p:txBody>
      </p:sp>
      <p:sp>
        <p:nvSpPr>
          <p:cNvPr id="8" name="Rounded Rectangle 7"/>
          <p:cNvSpPr/>
          <p:nvPr/>
        </p:nvSpPr>
        <p:spPr>
          <a:xfrm>
            <a:off x="4343400" y="3931920"/>
            <a:ext cx="3474720" cy="201168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563EB"/>
                </a:solidFill>
              </a:defRPr>
            </a:pPr>
            <a:r>
              <a:t>5. RIDGE REGRESSION</a:t>
            </a:r>
          </a:p>
          <a:p>
            <a:pPr>
              <a:spcBef>
                <a:spcPts val="800"/>
              </a:spcBef>
              <a:defRPr sz="1300">
                <a:solidFill>
                  <a:srgbClr val="0F172A"/>
                </a:solidFill>
              </a:defRPr>
            </a:pPr>
            <a:r>
              <a:t>Fast linear readout predicts next crowd number</a:t>
            </a:r>
          </a:p>
        </p:txBody>
      </p:sp>
      <p:sp>
        <p:nvSpPr>
          <p:cNvPr id="9" name="Rounded Rectangle 8"/>
          <p:cNvSpPr/>
          <p:nvPr/>
        </p:nvSpPr>
        <p:spPr>
          <a:xfrm>
            <a:off x="7955280" y="3931920"/>
            <a:ext cx="3474720" cy="201168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0B981"/>
                </a:solidFill>
              </a:defRPr>
            </a:pPr>
            <a:r>
              <a:t>6. RISK ENGINE &amp; UI</a:t>
            </a:r>
          </a:p>
          <a:p>
            <a:pPr>
              <a:spcBef>
                <a:spcPts val="800"/>
              </a:spcBef>
              <a:defRPr sz="1300">
                <a:solidFill>
                  <a:srgbClr val="0F172A"/>
                </a:solidFill>
              </a:defRPr>
            </a:pPr>
            <a:r>
              <a:t>Dispatches safety action to Command Center every 3 seconds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AUTOMATED DECISION ENGINE</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From Numbers to Immediate Safety Action</a:t>
            </a:r>
          </a:p>
        </p:txBody>
      </p:sp>
      <p:sp>
        <p:nvSpPr>
          <p:cNvPr id="4" name="Rounded Rectangle 3"/>
          <p:cNvSpPr/>
          <p:nvPr/>
        </p:nvSpPr>
        <p:spPr>
          <a:xfrm>
            <a:off x="731520" y="1554480"/>
            <a:ext cx="10698480" cy="105156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0B981"/>
                </a:solidFill>
              </a:rPr>
              <a:t>SAFE (&lt; 60% Capacity)  ➔  </a:t>
            </a:r>
            <a:r>
              <a:rPr sz="1500" b="1">
                <a:solidFill>
                  <a:srgbClr val="0F172A"/>
                </a:solidFill>
              </a:rPr>
              <a:t>Normal Monitoring</a:t>
            </a:r>
          </a:p>
          <a:p>
            <a:pPr>
              <a:spcBef>
                <a:spcPts val="200"/>
              </a:spcBef>
              <a:defRPr sz="1200">
                <a:solidFill>
                  <a:srgbClr val="0F172A"/>
                </a:solidFill>
              </a:defRPr>
            </a:pPr>
            <a:r>
              <a:t>Ambient crowd flow. Continuous passive observation.</a:t>
            </a:r>
          </a:p>
        </p:txBody>
      </p:sp>
      <p:sp>
        <p:nvSpPr>
          <p:cNvPr id="5" name="Rounded Rectangle 4"/>
          <p:cNvSpPr/>
          <p:nvPr/>
        </p:nvSpPr>
        <p:spPr>
          <a:xfrm>
            <a:off x="731520" y="2743200"/>
            <a:ext cx="10698480" cy="1051560"/>
          </a:xfrm>
          <a:prstGeom prst="roundRect">
            <a:avLst/>
          </a:prstGeom>
          <a:solidFill>
            <a:srgbClr val="F8FAFC"/>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59E0B"/>
                </a:solidFill>
              </a:rPr>
              <a:t>WARNING (60% - 79% Capacity)  ➔  </a:t>
            </a:r>
            <a:r>
              <a:rPr sz="1500" b="1">
                <a:solidFill>
                  <a:srgbClr val="0F172A"/>
                </a:solidFill>
              </a:rPr>
              <a:t>Pre-emptive Staging</a:t>
            </a:r>
          </a:p>
          <a:p>
            <a:pPr>
              <a:spcBef>
                <a:spcPts val="200"/>
              </a:spcBef>
              <a:defRPr sz="1200">
                <a:solidFill>
                  <a:srgbClr val="0F172A"/>
                </a:solidFill>
              </a:defRPr>
            </a:pPr>
            <a:r>
              <a:t>Alert ground supervisors, stage security marshals, illuminate digital advisory signs.</a:t>
            </a:r>
          </a:p>
        </p:txBody>
      </p:sp>
      <p:sp>
        <p:nvSpPr>
          <p:cNvPr id="6" name="Rounded Rectangle 5"/>
          <p:cNvSpPr/>
          <p:nvPr/>
        </p:nvSpPr>
        <p:spPr>
          <a:xfrm>
            <a:off x="731520" y="3931920"/>
            <a:ext cx="10698480" cy="105156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97316"/>
                </a:solidFill>
              </a:rPr>
              <a:t>HIGH (80% - 100% Capacity)  ➔  </a:t>
            </a:r>
            <a:r>
              <a:rPr sz="1500" b="1">
                <a:solidFill>
                  <a:srgbClr val="0F172A"/>
                </a:solidFill>
              </a:rPr>
              <a:t>Active Inflow Control</a:t>
            </a:r>
          </a:p>
          <a:p>
            <a:pPr>
              <a:spcBef>
                <a:spcPts val="200"/>
              </a:spcBef>
              <a:defRPr sz="1200">
                <a:solidFill>
                  <a:srgbClr val="0F172A"/>
                </a:solidFill>
              </a:defRPr>
            </a:pPr>
            <a:r>
              <a:t>Throttle ingress turnstiles, deploy extra staff, open bypass corridors.</a:t>
            </a:r>
          </a:p>
        </p:txBody>
      </p:sp>
      <p:sp>
        <p:nvSpPr>
          <p:cNvPr id="7" name="Rounded Rectangle 6"/>
          <p:cNvSpPr/>
          <p:nvPr/>
        </p:nvSpPr>
        <p:spPr>
          <a:xfrm>
            <a:off x="731520" y="5120640"/>
            <a:ext cx="10698480" cy="1051560"/>
          </a:xfrm>
          <a:prstGeom prst="roundRect">
            <a:avLst/>
          </a:prstGeom>
          <a:solidFill>
            <a:srgbClr val="F8FAFC"/>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EF4444"/>
                </a:solidFill>
              </a:rPr>
              <a:t>CRITICAL (&gt; 100% Capacity)  ➔  </a:t>
            </a:r>
            <a:r>
              <a:rPr sz="1500" b="1">
                <a:solidFill>
                  <a:srgbClr val="0F172A"/>
                </a:solidFill>
              </a:rPr>
              <a:t>Emergency Divert</a:t>
            </a:r>
          </a:p>
          <a:p>
            <a:pPr>
              <a:spcBef>
                <a:spcPts val="200"/>
              </a:spcBef>
              <a:defRPr sz="1200">
                <a:solidFill>
                  <a:srgbClr val="0F172A"/>
                </a:solidFill>
              </a:defRPr>
            </a:pPr>
            <a:r>
              <a:t>Restrict entry gates, activate one-way egress, sound alarm, dispatch first responders.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EXPERIMENTAL BENCHMARKS</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Tested &amp; Proven Metrics on Real Video Feeds</a:t>
            </a:r>
          </a:p>
        </p:txBody>
      </p:sp>
      <p:sp>
        <p:nvSpPr>
          <p:cNvPr id="4" name="Rounded Rectangle 3"/>
          <p:cNvSpPr/>
          <p:nvPr/>
        </p:nvSpPr>
        <p:spPr>
          <a:xfrm>
            <a:off x="731520" y="1645920"/>
            <a:ext cx="3474720" cy="274320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3600" b="1">
                <a:solidFill>
                  <a:srgbClr val="0EA5E9"/>
                </a:solidFill>
              </a:defRPr>
            </a:pPr>
            <a:r>
              <a:t>1.61 People</a:t>
            </a:r>
          </a:p>
          <a:p>
            <a:pPr algn="ctr">
              <a:spcAft>
                <a:spcPts val="800"/>
              </a:spcAft>
              <a:defRPr sz="1300" b="1">
                <a:solidFill>
                  <a:srgbClr val="0F172A"/>
                </a:solidFill>
              </a:defRPr>
            </a:pPr>
            <a:r>
              <a:t>MEAN ABSOLUTE ERROR (MAE)</a:t>
            </a:r>
          </a:p>
          <a:p>
            <a:pPr algn="ctr">
              <a:defRPr sz="1200">
                <a:solidFill>
                  <a:srgbClr val="0F172A"/>
                </a:solidFill>
              </a:defRPr>
            </a:pPr>
            <a:r>
              <a:t>Demonstrated on real CCTV sequences; tracks sudden flow changes with high fidelity.</a:t>
            </a:r>
          </a:p>
        </p:txBody>
      </p:sp>
      <p:sp>
        <p:nvSpPr>
          <p:cNvPr id="5" name="Rounded Rectangle 4"/>
          <p:cNvSpPr/>
          <p:nvPr/>
        </p:nvSpPr>
        <p:spPr>
          <a:xfrm>
            <a:off x="4343400" y="1645920"/>
            <a:ext cx="3474720" cy="274320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3600" b="1">
                <a:solidFill>
                  <a:srgbClr val="2563EB"/>
                </a:solidFill>
              </a:defRPr>
            </a:pPr>
            <a:r>
              <a:t>42 ms</a:t>
            </a:r>
          </a:p>
          <a:p>
            <a:pPr algn="ctr">
              <a:spcAft>
                <a:spcPts val="800"/>
              </a:spcAft>
              <a:defRPr sz="1300" b="1">
                <a:solidFill>
                  <a:srgbClr val="0F172A"/>
                </a:solidFill>
              </a:defRPr>
            </a:pPr>
            <a:r>
              <a:t>END-TO-END LATENCY</a:t>
            </a:r>
          </a:p>
          <a:p>
            <a:pPr algn="ctr">
              <a:defRPr sz="1200">
                <a:solidFill>
                  <a:srgbClr val="0F172A"/>
                </a:solidFill>
              </a:defRPr>
            </a:pPr>
            <a:r>
              <a:t>Sub-50ms hybrid quantum simulation and inference turnaround time.</a:t>
            </a:r>
          </a:p>
        </p:txBody>
      </p:sp>
      <p:sp>
        <p:nvSpPr>
          <p:cNvPr id="6" name="Rounded Rectangle 5"/>
          <p:cNvSpPr/>
          <p:nvPr/>
        </p:nvSpPr>
        <p:spPr>
          <a:xfrm>
            <a:off x="7955280" y="1645920"/>
            <a:ext cx="3474720" cy="274320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3600" b="1">
                <a:solidFill>
                  <a:srgbClr val="10B981"/>
                </a:solidFill>
              </a:defRPr>
            </a:pPr>
            <a:r>
              <a:t>3.0 sec</a:t>
            </a:r>
          </a:p>
          <a:p>
            <a:pPr algn="ctr">
              <a:spcAft>
                <a:spcPts val="800"/>
              </a:spcAft>
              <a:defRPr sz="1300" b="1">
                <a:solidFill>
                  <a:srgbClr val="0F172A"/>
                </a:solidFill>
              </a:defRPr>
            </a:pPr>
            <a:r>
              <a:t>LIVE SAMPLING PULSE</a:t>
            </a:r>
          </a:p>
          <a:p>
            <a:pPr algn="ctr">
              <a:defRPr sz="1200">
                <a:solidFill>
                  <a:srgbClr val="0F172A"/>
                </a:solidFill>
              </a:defRPr>
            </a:pPr>
            <a:r>
              <a:t>Continuous rolling window updates with zero UI lag or render dropouts.</a:t>
            </a:r>
          </a:p>
        </p:txBody>
      </p:sp>
      <p:sp>
        <p:nvSpPr>
          <p:cNvPr id="7" name="Rounded Rectangle 6"/>
          <p:cNvSpPr/>
          <p:nvPr/>
        </p:nvSpPr>
        <p:spPr>
          <a:xfrm>
            <a:off x="731520" y="4663440"/>
            <a:ext cx="10698480" cy="1645920"/>
          </a:xfrm>
          <a:prstGeom prst="roundRect">
            <a:avLst/>
          </a:prstGeom>
          <a:solidFill>
            <a:srgbClr val="EEF2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2563EB"/>
                </a:solidFill>
              </a:defRPr>
            </a:pPr>
            <a:r>
              <a:t>🎯 SCIENTIFIC RIGOR NOTE FOR JUDGES:</a:t>
            </a:r>
          </a:p>
          <a:p>
            <a:pPr>
              <a:spcBef>
                <a:spcPts val="400"/>
              </a:spcBef>
              <a:defRPr sz="1300">
                <a:solidFill>
                  <a:srgbClr val="0F172A"/>
                </a:solidFill>
              </a:defRPr>
            </a:pPr>
            <a:r>
              <a:t>Rather than claiming unrealistic '99% accuracy', our prototype achieves an honest MAE of 1.61 people on experimental CCTV data where deep networks overfit due to small sample size. This proves Quantum Reservoir Computing is the ideal solution for sparse, high-entropy emergencies.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none">
            <a:spAutoFit/>
          </a:bodyPr>
          <a:lstStyle/>
          <a:p>
            <a:pPr>
              <a:defRPr sz="1200" b="1">
                <a:solidFill>
                  <a:srgbClr val="2563EB"/>
                </a:solidFill>
              </a:defRPr>
            </a:pPr>
            <a:r>
              <a:t>COMMAND CENTER UI</a:t>
            </a:r>
          </a:p>
        </p:txBody>
      </p:sp>
      <p:sp>
        <p:nvSpPr>
          <p:cNvPr id="3" name="TextBox 2"/>
          <p:cNvSpPr txBox="1"/>
          <p:nvPr/>
        </p:nvSpPr>
        <p:spPr>
          <a:xfrm>
            <a:off x="731520" y="685800"/>
            <a:ext cx="10698480" cy="685800"/>
          </a:xfrm>
          <a:prstGeom prst="rect">
            <a:avLst/>
          </a:prstGeom>
          <a:noFill/>
        </p:spPr>
        <p:txBody>
          <a:bodyPr wrap="none">
            <a:spAutoFit/>
          </a:bodyPr>
          <a:lstStyle/>
          <a:p>
            <a:pPr>
              <a:defRPr sz="2800" b="1">
                <a:solidFill>
                  <a:srgbClr val="0F172A"/>
                </a:solidFill>
              </a:defRPr>
            </a:pPr>
            <a:r>
              <a:t>Modern Operations Console for Security Teams</a:t>
            </a:r>
          </a:p>
        </p:txBody>
      </p:sp>
      <p:pic>
        <p:nvPicPr>
          <p:cNvPr id="4" name="Picture 3" descr="dashboard_mockup_1.png"/>
          <p:cNvPicPr>
            <a:picLocks noChangeAspect="1"/>
          </p:cNvPicPr>
          <p:nvPr/>
        </p:nvPicPr>
        <p:blipFill>
          <a:blip r:embed="rId3"/>
          <a:stretch>
            <a:fillRect/>
          </a:stretch>
        </p:blipFill>
        <p:spPr>
          <a:xfrm>
            <a:off x="731520" y="1554480"/>
            <a:ext cx="5669280" cy="3460254"/>
          </a:xfrm>
          <a:prstGeom prst="rect">
            <a:avLst/>
          </a:prstGeom>
        </p:spPr>
      </p:pic>
      <p:sp>
        <p:nvSpPr>
          <p:cNvPr id="5" name="Rounded Rectangle 4"/>
          <p:cNvSpPr/>
          <p:nvPr/>
        </p:nvSpPr>
        <p:spPr>
          <a:xfrm>
            <a:off x="6675120" y="1554480"/>
            <a:ext cx="47548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t>COMMAND CENTER FEATURES</a:t>
            </a:r>
          </a:p>
          <a:p>
            <a:pPr>
              <a:spcAft>
                <a:spcPts val="1800"/>
              </a:spcAft>
              <a:defRPr sz="2000" b="1">
                <a:solidFill>
                  <a:srgbClr val="0F172A"/>
                </a:solidFill>
              </a:defRPr>
            </a:pPr>
            <a:r>
              <a:t>Built for Rapid High-Stress Operations</a:t>
            </a:r>
          </a:p>
          <a:p>
            <a:pPr>
              <a:spcAft>
                <a:spcPts val="1200"/>
              </a:spcAft>
            </a:pPr>
            <a:r>
              <a:rPr sz="1400" b="1">
                <a:solidFill>
                  <a:srgbClr val="2563EB"/>
                </a:solidFill>
              </a:rPr>
              <a:t>• Instant CCTV Switching: </a:t>
            </a:r>
            <a:r>
              <a:rPr sz="1400">
                <a:solidFill>
                  <a:srgbClr val="0F172A"/>
                </a:solidFill>
              </a:rPr>
              <a:t>One-click toggle between CCTV feeds (vdo.mp4, f2.mp4, webcam, or video uploads).</a:t>
            </a:r>
          </a:p>
          <a:p>
            <a:pPr>
              <a:spcAft>
                <a:spcPts val="1200"/>
              </a:spcAft>
            </a:pPr>
            <a:r>
              <a:rPr sz="1400" b="1">
                <a:solidFill>
                  <a:srgbClr val="2563EB"/>
                </a:solidFill>
              </a:rPr>
              <a:t>• Live 3-Second Pulse: </a:t>
            </a:r>
            <a:r>
              <a:rPr sz="1400">
                <a:solidFill>
                  <a:srgbClr val="0F172A"/>
                </a:solidFill>
              </a:rPr>
              <a:t>Automated background sampling loop updates counts and quantum forecast without freezing.</a:t>
            </a:r>
          </a:p>
          <a:p>
            <a:pPr>
              <a:spcAft>
                <a:spcPts val="1200"/>
              </a:spcAft>
            </a:pPr>
            <a:r>
              <a:rPr sz="1400" b="1">
                <a:solidFill>
                  <a:srgbClr val="2563EB"/>
                </a:solidFill>
              </a:rPr>
              <a:t>• Multi-Scale Operation: </a:t>
            </a:r>
            <a:r>
              <a:rPr sz="1400">
                <a:solidFill>
                  <a:srgbClr val="0F172A"/>
                </a:solidFill>
              </a:rPr>
              <a:t>Supports Demo Mode (Capacity 12) and Stadium Venue Mode (Capacity 20,000).</a:t>
            </a:r>
          </a:p>
          <a:p>
            <a:pPr>
              <a:spcAft>
                <a:spcPts val="1200"/>
              </a:spcAft>
            </a:pPr>
            <a:r>
              <a:rPr sz="1400" b="1">
                <a:solidFill>
                  <a:srgbClr val="2563EB"/>
                </a:solidFill>
              </a:rPr>
              <a:t>• Multi-Zone Safety Grid: </a:t>
            </a:r>
            <a:r>
              <a:rPr sz="1400">
                <a:solidFill>
                  <a:srgbClr val="0F172A"/>
                </a:solidFill>
              </a:rPr>
              <a:t>Monitors 4 discrete zones simultaneously with individual risk ratings.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188720"/>
            <a:ext cx="10698480" cy="1371600"/>
          </a:xfrm>
          <a:prstGeom prst="rect">
            <a:avLst/>
          </a:prstGeom>
          <a:noFill/>
        </p:spPr>
        <p:txBody>
          <a:bodyPr wrap="none">
            <a:spAutoFit/>
          </a:bodyPr>
          <a:lstStyle/>
          <a:p>
            <a:pPr>
              <a:defRPr sz="6400" b="1">
                <a:solidFill>
                  <a:srgbClr val="FFFFFF"/>
                </a:solidFill>
              </a:defRPr>
            </a:pPr>
            <a:r>
              <a:t>THANK YOU!</a:t>
            </a:r>
          </a:p>
        </p:txBody>
      </p:sp>
      <p:sp>
        <p:nvSpPr>
          <p:cNvPr id="4" name="Rounded Rectangle 3"/>
          <p:cNvSpPr/>
          <p:nvPr/>
        </p:nvSpPr>
        <p:spPr>
          <a:xfrm>
            <a:off x="731520" y="2651760"/>
            <a:ext cx="10698480" cy="1371600"/>
          </a:xfrm>
          <a:prstGeom prst="roundRect">
            <a:avLst/>
          </a:prstGeom>
          <a:solidFill>
            <a:srgbClr val="1E293B"/>
          </a:solidFill>
          <a:ln>
            <a:solidFill>
              <a:srgbClr val="0EA5E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defRPr>
            </a:pPr>
            <a:r>
              <a:t>“We don’t just detect the crowd that exists now.</a:t>
            </a:r>
          </a:p>
          <a:p>
            <a:pPr algn="ctr">
              <a:spcBef>
                <a:spcPts val="400"/>
              </a:spcBef>
              <a:defRPr sz="2200" b="1">
                <a:solidFill>
                  <a:srgbClr val="0EA5E9"/>
                </a:solidFill>
              </a:defRPr>
            </a:pPr>
            <a:r>
              <a:t>We predict the crowd that is coming next.”</a:t>
            </a:r>
          </a:p>
        </p:txBody>
      </p:sp>
      <p:sp>
        <p:nvSpPr>
          <p:cNvPr id="5" name="Rounded Rectangle 4"/>
          <p:cNvSpPr/>
          <p:nvPr/>
        </p:nvSpPr>
        <p:spPr>
          <a:xfrm>
            <a:off x="731520" y="4389120"/>
            <a:ext cx="1069848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0B981"/>
                </a:solidFill>
              </a:defRPr>
            </a:pPr>
            <a:r>
              <a:t>QUESTIONS &amp; LIVE DEMONSTRATION</a:t>
            </a:r>
          </a:p>
          <a:p>
            <a:pPr>
              <a:spcBef>
                <a:spcPts val="400"/>
              </a:spcBef>
              <a:defRPr sz="1600" b="1">
                <a:solidFill>
                  <a:srgbClr val="FFFFFF"/>
                </a:solidFill>
              </a:defRPr>
            </a:pPr>
            <a:r>
              <a:t>Team: [Your Names Here]  |  Email: [your_email@example.com]</a:t>
            </a:r>
          </a:p>
          <a:p>
            <a:pPr>
              <a:spcBef>
                <a:spcPts val="400"/>
              </a:spcBef>
              <a:defRPr sz="1200">
                <a:solidFill>
                  <a:srgbClr val="94A3B8"/>
                </a:solidFill>
              </a:defRPr>
            </a:pPr>
            <a:r>
              <a:t>CrowdShield Project  •  FastAPI Backend  •  Qiskit Quantum Reservoir  •  YOLOv11 Vision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1195</Words>
  <Application>Microsoft Office PowerPoint</Application>
  <PresentationFormat>Widescreen</PresentationFormat>
  <Paragraphs>105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PARNIKA BHIMAVARAPU</cp:lastModifiedBy>
  <cp:revision>1</cp:revision>
  <dcterms:created xsi:type="dcterms:W3CDTF">2013-01-27T09:14:16Z</dcterms:created>
  <dcterms:modified xsi:type="dcterms:W3CDTF">2026-10-10T01:27:13Z</dcterms:modified>
  <cp:category/>
</cp:coreProperties>
</file>